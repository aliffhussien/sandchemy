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19"/>
    <p:sldId id="262" r:id="rId8"/>
    <p:sldId id="263" r:id="rId9"/>
    <p:sldId id="264" r:id="rId10"/>
    <p:sldId id="265" r:id="rId11"/>
    <p:sldId id="269" r:id="rId20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011680"/>
            <a:ext cx="7315200" cy="7315200"/>
          </a:xfrm>
          <a:prstGeom prst="ellipse">
            <a:avLst/>
          </a:prstGeom>
          <a:solidFill>
            <a:srgbClr val="FFD76B">
              <a:alpha val="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7440" y="155448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Sandchemy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2423160" y="2514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you can pour. Chemistry you can discover.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242316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free, offline-first falling-sand physics lab where every reaction is real,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 science — built to turn any browser into a science classroom.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423160" y="4114800"/>
            <a:ext cx="4206240" cy="502920"/>
          </a:xfrm>
          <a:prstGeom prst="roundRect">
            <a:avLst>
              <a:gd name="adj" fmla="val 50909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23160" y="4114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Cradle Fund CIP Spark — Pre-Seed Pitch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4231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2026  ·  sandchemy.app  ·  aliff@sheikhhussien.com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science is expensive, dangerous, or fake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315261"/>
            <a:ext cx="526694" cy="52669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6654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labs don't scale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48716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Glassware, chemicals, and heat sources cost money and carry real risk — schools ration lab time to a few sessions a year.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3401568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694176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3796589"/>
            <a:ext cx="526694" cy="52669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4787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“Elemental” games fake 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68496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 sandbox/crafting games script their combinations for effect. Nothing is actually simulated — there's no real chemistry to learn.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882896"/>
            <a:ext cx="11064240" cy="1298448"/>
          </a:xfrm>
          <a:prstGeom prst="roundRect">
            <a:avLst>
              <a:gd name="adj" fmla="val 845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5175504"/>
            <a:ext cx="731520" cy="73152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3" y="5277917"/>
            <a:ext cx="526694" cy="52669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50292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tools forget everything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449824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Infinite-craft-style games wipe your board on refresh. Curiosity has nothing to hold onto — no record of what you actually found.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IS the crafting system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simulates real heat, density, and chemistry cell-by-cell. Pour water on lava and you don't just get a scripted splash — you discover Obsidian, because that's genuinely what happens when lava quenches fast. Every discovery is logged forever in your own Discovery Journal.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324612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real elements across 8 categories — Basics, Metals, Gases, Chemistry, Electric, Weather, Life, Crafting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38679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86791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temperature and density is a sourced, real-world number — not invented for effect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448970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4489704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server, zero account, zero data collection — everything saves locally in the 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76B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5111496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as a real offline app (PWA) — works on the oldest laptop in the school lab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0" y="1554480"/>
            <a:ext cx="4343400" cy="4480560"/>
          </a:xfrm>
          <a:prstGeom prst="roundRect">
            <a:avLst>
              <a:gd name="adj" fmla="val 2526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589520" y="173736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Chemistry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589520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22208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454896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87584" y="2286000"/>
            <a:ext cx="82296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9525">
            <a:solidFill>
              <a:srgbClr val="2C32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9520" y="2880360"/>
            <a:ext cx="3794760" cy="2971800"/>
          </a:xfrm>
          <a:prstGeom prst="roundRect">
            <a:avLst>
              <a:gd name="adj" fmla="val 3692"/>
            </a:avLst>
          </a:prstGeom>
          <a:solidFill>
            <a:srgbClr val="1A1200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3566160"/>
            <a:ext cx="1600200" cy="16002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589520" y="58978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in-browser sandbox — category tabs, real-time canvas, Discovery Journal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lab, not a toy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042" y="2164202"/>
            <a:ext cx="408188" cy="4081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thermodynamics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radiates, diffuses, and decays per-cell. Lava melts ice from a distance; a wall genuinely blocks heat.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8912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4515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522" y="2164202"/>
            <a:ext cx="408188" cy="4081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4515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4515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any cell for a live temperature/state readout — a real lab thermometer, built into the canvas.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229600" y="1828800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85632" y="2084832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5002" y="2164202"/>
            <a:ext cx="408188" cy="4081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85632" y="274320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485632" y="3108960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custom element — emoji, color, physics, up to 3 reactions — zero code, export as a shareable text code.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0467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042" y="4386194"/>
            <a:ext cx="408188" cy="4081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Prebuilt Scenarios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80467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ready-made setups like Volcano Eruption to start a guided experiment instantly.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8912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4515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4522" y="4386194"/>
            <a:ext cx="408188" cy="40818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4515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Journal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64515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combination is auto-logged forever — doubles as a ready-made lab notebook for assessment.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229600" y="4050792"/>
            <a:ext cx="3584448" cy="1965960"/>
          </a:xfrm>
          <a:prstGeom prst="roundRect">
            <a:avLst>
              <a:gd name="adj" fmla="val 5581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85632" y="4306824"/>
            <a:ext cx="566928" cy="566928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5002" y="4386194"/>
            <a:ext cx="408188" cy="4081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85632" y="4965192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Nuclear physics, done safely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485632" y="5330952"/>
            <a:ext cx="3072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Uranium decays into Radiation; Lead genuinely shields against it — no real-world hazard, all real logic.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Pluto — an AI science orchestrator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880360" cy="365760"/>
          </a:xfrm>
          <a:prstGeom prst="roundRect">
            <a:avLst>
              <a:gd name="adj" fmla="val 50000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813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— NOT YET BUILT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for the demoted planet. Pluto is an AI layer on top of Sandchemy's own already-sourced science — not an open-web crawl — that adjusts explanation depth for students, teachers, and professors, and shows its sources rather than asserting blanket truth.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3244291"/>
            <a:ext cx="460858" cy="46085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Ask Pluto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tutor beside the Discovery Journal. Explains a real reaction at the depth you pick — curious explainer, real chemistry, or a teaching point.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first build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34340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1772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3244291"/>
            <a:ext cx="460858" cy="46085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1772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9b — Authoring Copilot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61772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 new element's real data and citations for founder verification before it ships — speeds up the existing weekly content pipeline.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61772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6344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tool, dev-only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8138160" y="2880360"/>
            <a:ext cx="3611880" cy="2880360"/>
          </a:xfrm>
          <a:prstGeom prst="roundRect">
            <a:avLst>
              <a:gd name="adj" fmla="val 3810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412480" y="31546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3244291"/>
            <a:ext cx="460858" cy="46085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412480" y="3886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9c — Teacher Generator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412480" y="4315968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lesson plans and quiz questions grounded in mechanics that actually exist in the sandbox, for the teacher/professor audience.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412480" y="534924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14172A"/>
          </a:solidFill>
          <a:ln w="12700">
            <a:solidFill>
              <a:srgbClr val="7EE3F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8458200" y="534924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9a shipping first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548640" y="59893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Pluto ships: a clear, opt-in disclosure model. Sandchemy's zero-data-collection promise stays true for the core sandbox — Pluto is an explicit, disclosed exception whenever it's used.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Riding Malaysia's EdTech growth curve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1.05B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 EdTech market size, 2024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2.88B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size by 2033 (~11.8% CAGR)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44.6%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held by higher education alone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IMARC Group, Malaysia EdTech Market Report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Sandchemy fits this moment: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3434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96112" y="4343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STEM push + rising gamified/digital-classroom adoption are both named growth drivers of this market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91032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49103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hardware cost and zero install fits Malaysia's mixed device access in schools — runs on any browser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47725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54772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“sandbox/creative-play” game audience (Sandspiel, Noita-likes) is a second, non-EdTech distribution channel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credible paths to revenue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sandbox stays free, always. Grant funds go toward proving which of these converts best.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2329891"/>
            <a:ext cx="460858" cy="4608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 Licensing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site licenses to schools/colleges: curriculum-aligned worksheet packs, LMS-friendly embeds, teacher dashboards for the Discovery Journal.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2296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lead path — matches CIP Spark's commercialisation bar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4340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1772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331" y="2329891"/>
            <a:ext cx="460858" cy="46085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1772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Consumer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61772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sandbox stays as-is; paid cosmetic packs, extra save slots, and “pro” tools (more Element Lab slots, no watermark on exports).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61772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70916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test — no sales cycle, works with the existing PWA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8138160" y="1965960"/>
            <a:ext cx="3611880" cy="3794760"/>
          </a:xfrm>
          <a:prstGeom prst="roundRect">
            <a:avLst>
              <a:gd name="adj" fmla="val 3038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2091" y="2329891"/>
            <a:ext cx="460858" cy="46085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412480" y="29718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B2B2C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412480" y="3429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individual learners; paid tier for institutions bundling both licensing AND premium consumer features under one subscription.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8412480" y="5074920"/>
            <a:ext cx="3063240" cy="548640"/>
          </a:xfrm>
          <a:prstGeom prst="roundRect">
            <a:avLst>
              <a:gd name="adj" fmla="val 13333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503920" y="5074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long-run outcome if both markets validate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built. Now, growing it.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elements, 8 categories, all sourced real-world physics/chemistry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58775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58775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Lab (build-your-own element/reactions) + export/import codes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11810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11810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Probe, prebuilt Scenarios, Discovery Journal, full keyboard control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36484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76B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68680" y="3648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offline PWA with onboarding tutorial and mobile-responsive UI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12 MONTHS (grant-funded)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2075688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84264" y="2276856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03720" y="198424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19659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Pluto (AI tutor) MVP ships; first 3 school pilots begin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2880360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684264" y="3081528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0" y="27706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+ curriculum worksheet packs (zero student PII)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0" y="3685032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684264" y="3886200"/>
            <a:ext cx="0" cy="566928"/>
          </a:xfrm>
          <a:prstGeom prst="line">
            <a:avLst/>
          </a:prstGeom>
          <a:noFill/>
          <a:ln w="19050">
            <a:solidFill>
              <a:srgbClr val="2C32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5935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357530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 wrapper; LMS embed support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0" y="4489704"/>
            <a:ext cx="201168" cy="201168"/>
          </a:xfrm>
          <a:prstGeom prst="ellipse">
            <a:avLst/>
          </a:prstGeom>
          <a:solidFill>
            <a:srgbClr val="7EE3FF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439826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0" y="437997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launch of chosen monetization path, first paid customers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Founder-built, team in progress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1005840" cy="1005840"/>
          </a:xfrm>
          <a:prstGeom prst="ellipse">
            <a:avLst/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335378"/>
            <a:ext cx="724205" cy="7242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Builder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built Sandchemy's entire engine, content system, and UI end-to-end — 8+ shipped phases from first prototype to an installable, sourced-physics sandbox.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828800"/>
            <a:ext cx="3840480" cy="3931920"/>
          </a:xfrm>
          <a:prstGeom prst="roundRect">
            <a:avLst>
              <a:gd name="adj" fmla="val 285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2194560"/>
            <a:ext cx="1005840" cy="1005840"/>
          </a:xfrm>
          <a:prstGeom prst="ellipse">
            <a:avLst/>
          </a:prstGeom>
          <a:solidFill>
            <a:srgbClr val="14172A"/>
          </a:solidFill>
          <a:ln w="19050">
            <a:solidFill>
              <a:srgbClr val="2C3252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5029200" y="21945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AA2BD"/>
                </a:solidFill>
              </a:rPr>
              <a:t>?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5394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— recruiting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394960" y="37033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role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394960" y="411480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Spark requires a minimum 2-person team. Actively looking for a co-founder with education/business-development strength to complement the technical build — commercialisation, school partnerships, and curriculum design.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78240" y="1828800"/>
            <a:ext cx="2880360" cy="3931920"/>
          </a:xfrm>
          <a:prstGeom prst="roundRect">
            <a:avLst>
              <a:gd name="adj" fmla="val 3810"/>
            </a:avLst>
          </a:prstGeom>
          <a:solidFill>
            <a:srgbClr val="14172A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006840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also looking for: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006840" y="251460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235440" y="251460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Educators to co-design curriculum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006840" y="3081528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235440" y="3081528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to peer-review chemistry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006840" y="3648456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76B"/>
                </a:solidFill>
              </a:rPr>
              <a:t>•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235440" y="3648456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pilot classrooms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RM150,000 — CIP Spark, pre-seed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pre-seed cap requested, split per CIP Spark's own 60/40 developmental-vs-commercialisation rule.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241B00"/>
          </a:solidFill>
          <a:ln w="12700">
            <a:solidFill>
              <a:srgbClr val="FFD76B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  ·  RM90,000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91840" y="201168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— mobile app wrapper, teacher dashboard, curriculum content pipeline, new element/reaction batches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6492240" cy="960120"/>
          </a:xfrm>
          <a:prstGeom prst="roundRect">
            <a:avLst>
              <a:gd name="adj" fmla="val 11429"/>
            </a:avLst>
          </a:prstGeom>
          <a:solidFill>
            <a:srgbClr val="0E2A2E"/>
          </a:solidFill>
          <a:ln w="12700">
            <a:solidFill>
              <a:srgbClr val="7EE3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31089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EE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  ·  RM60,000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291840" y="31089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Commercialisation — school pilot rollouts, teacher training materials, IP/legal setup, marketing for launch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0" y="2011680"/>
            <a:ext cx="4343400" cy="4023360"/>
          </a:xfrm>
          <a:prstGeom prst="roundRect">
            <a:avLst>
              <a:gd name="adj" fmla="val 2727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589520" y="2194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this funds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89520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09560" y="26517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signed school pilots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0" y="33101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09560" y="33101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Pluto (AI tutor) MVP shipped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8952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09560" y="396849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dashboard MVP live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89520" y="462686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09560" y="46268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business model validated with real paying users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589520" y="52852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6B"/>
                </a:solidFill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09560" y="528523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 CIP Sprint (seed) follow-on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CIP SPARK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textbook pre-seed, MVP-stage fit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196596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Tech-based, innovative idea → MVP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231343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 is a working, live MVP already — real physics engine, 56 elements, installable PWA — exactly the stage CIP Spark is designed to fund.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44952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3182112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34440" y="313639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+ IP ownership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3483864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Founder-owned IP from day one, no university/employer entanglement; actively closing the 2-person minimum with a co-founder search already underway.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215384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352544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34440" y="430682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Malaysian-rooted, globally usable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465429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based in Malaysia, directly targeting Malaysia's fast-growing EdTech sector, with a genuine second global distribution channel (sandbox-game players).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385816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5522976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76B"/>
                </a:solidFill>
              </a:rPr>
              <a:t>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234440" y="54772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Capital-efficient by design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582472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server costs, zero infra to scale — grant funds go almost entirely into product and go-to-market, not overhead.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7315200" cy="7315200"/>
          </a:xfrm>
          <a:prstGeom prst="ellipse">
            <a:avLst/>
          </a:prstGeom>
          <a:solidFill>
            <a:srgbClr val="FFD76B">
              <a:alpha val="7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137160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curiosity into discovery.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371600" y="352044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E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use. No install required. Built to be the classroom lab every school can afford.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480560" y="42976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FFD76B"/>
          </a:solidFill>
          <a:ln/>
        </p:spPr>
      </p:sp>
      <p:sp>
        <p:nvSpPr>
          <p:cNvPr id="7" name="Text 4"/>
          <p:cNvSpPr/>
          <p:nvPr/>
        </p:nvSpPr>
        <p:spPr>
          <a:xfrm>
            <a:off x="4480560" y="4297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— sandchemy.app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52120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Aliff Hussien  ·  aliff@sheikhhussien.com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just "edtech" — a named category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1.5B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virtual-lab / STEM-sim market, 2024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4.2B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size by 2033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81C33"/>
          </a:solidFill>
          <a:ln w="12700">
            <a:solidFill>
              <a:srgbClr val="2C3252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0" y="19659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D7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0" y="26517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global comparables (PhET, Labster/PraxiLabs, Minecraft Education)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Business Research Insights, STEM Education Market Report; comparables per each product's own public description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Sandchemy sits: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3434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96112" y="4343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Category: Virtual Lab / Simulation-Based STEM Learning — a defined sub-segment of the EdTech market on the prior slide, not a vague "education game"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91032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49103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PhET (free, university-backed) and Labster/PraxiLabs (paid, institutional) both ship fixed, single-concept simulations — neither is an open, discovery-driven sandbox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47725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54772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Minecraft Education is the closest sandbox by shape, but its blocks aren't scientifically modelled — Sandchemy is the only one built on real, sourced thermodynamics and chemistry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0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ROADMAP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CIP Spark: a funding roadmap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40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 Spark is the lead application. These are the parallel and follow-on grants being pursued alongside it.</a:t>
            </a:r>
            <a:endParaRPr lang="en-US" sz="1400" dirty="0"/>
          </a:p>
        </p:txBody>
      </p:sp>
      <p:sp>
        <p:nvSpPr>
          <p:cNvPr id="29" name="SourceTop"/>
          <p:cNvSpPr/>
          <p:nvPr/>
        </p:nvSpPr>
        <p:spPr>
          <a:xfrm>
            <a:off x="548640" y="1930000"/>
            <a:ext cx="1097280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Cradle Fund, MRANTI, MDEC, TalentCorp, Yayasan PETRONAS — public eligibility pages, self-assessed as of July 2026</a:t>
            </a:r>
            <a:endParaRPr lang="en-US" sz="900" dirty="0"/>
          </a:p>
        </p:txBody>
      </p:sp>
      <p:sp>
        <p:nvSpPr>
          <p:cNvPr id="30" name="Arrow 0"/>
          <p:cNvSpPr/>
          <p:nvPr/>
        </p:nvSpPr>
        <p:spPr>
          <a:xfrm>
            <a:off x="548640" y="2230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31" name="Row 0"/>
          <p:cNvSpPr/>
          <p:nvPr/>
        </p:nvSpPr>
        <p:spPr>
          <a:xfrm>
            <a:off x="896112" y="2230000"/>
            <a:ext cx="105156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Yayasan PETRONAS — STEM Education Grant, up to RM1M over 3 years — NOW: </a:t>
            </a: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CSR-style grant, no paid-up capital or company-age requirement — apply in parallel with CIP Spark.</a:t>
            </a:r>
            <a:endParaRPr lang="en-US" sz="1200" dirty="0"/>
          </a:p>
        </p:txBody>
      </p:sp>
      <p:sp>
        <p:nvSpPr>
          <p:cNvPr id="32" name="Arrow 1"/>
          <p:cNvSpPr/>
          <p:nvPr/>
        </p:nvSpPr>
        <p:spPr>
          <a:xfrm>
            <a:off x="548640" y="3090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33" name="Row 1"/>
          <p:cNvSpPr/>
          <p:nvPr/>
        </p:nvSpPr>
        <p:spPr>
          <a:xfrm>
            <a:off x="896112" y="3090000"/>
            <a:ext cx="105156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Cradle CIP Sprint — up to RM600,000 — FOLLOW-ON: </a:t>
            </a: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Cradle’s own next stage after CIP Spark; natural seed-stage step once the company is incorporated.</a:t>
            </a:r>
            <a:endParaRPr lang="en-US" sz="1200" dirty="0"/>
          </a:p>
        </p:txBody>
      </p:sp>
      <p:sp>
        <p:nvSpPr>
          <p:cNvPr id="34" name="Arrow 2"/>
          <p:cNvSpPr/>
          <p:nvPr/>
        </p:nvSpPr>
        <p:spPr>
          <a:xfrm>
            <a:off x="548640" y="3950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35" name="Row 2"/>
          <p:cNvSpPr/>
          <p:nvPr/>
        </p:nvSpPr>
        <p:spPr>
          <a:xfrm>
            <a:off x="896112" y="3950000"/>
            <a:ext cx="105156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MRANTI Strategic Research Fund — R&amp;D grant — FOLLOW-ON: </a:t>
            </a: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Needs SSM registration, RM10,000 paid-up capital, and 2 directors — pursue right after incorporation.</a:t>
            </a:r>
            <a:endParaRPr lang="en-US" sz="1200" dirty="0"/>
          </a:p>
        </p:txBody>
      </p:sp>
      <p:sp>
        <p:nvSpPr>
          <p:cNvPr id="36" name="Arrow 3"/>
          <p:cNvSpPr/>
          <p:nvPr/>
        </p:nvSpPr>
        <p:spPr>
          <a:xfrm>
            <a:off x="548640" y="4810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37" name="Row 3"/>
          <p:cNvSpPr/>
          <p:nvPr/>
        </p:nvSpPr>
        <p:spPr>
          <a:xfrm>
            <a:off x="896112" y="4810000"/>
            <a:ext cx="105156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TalentCorp LiKES — RM2,000 per intern — LATER: </a:t>
            </a: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Internship hiring grant; relevant once curriculum/content work needs paid interns.</a:t>
            </a:r>
            <a:endParaRPr lang="en-US" sz="1200" dirty="0"/>
          </a:p>
        </p:txBody>
      </p:sp>
      <p:sp>
        <p:nvSpPr>
          <p:cNvPr id="38" name="Arrow 4"/>
          <p:cNvSpPr/>
          <p:nvPr/>
        </p:nvSpPr>
        <p:spPr>
          <a:xfrm>
            <a:off x="548640" y="5670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E3FF"/>
                </a:solidFill>
              </a:rPr>
              <a:t>→</a:t>
            </a:r>
            <a:endParaRPr lang="en-US" sz="1300" dirty="0"/>
          </a:p>
        </p:txBody>
      </p:sp>
      <p:sp>
        <p:nvSpPr>
          <p:cNvPr id="39" name="Row 4"/>
          <p:cNvSpPr/>
          <p:nvPr/>
        </p:nvSpPr>
        <p:spPr>
          <a:xfrm>
            <a:off x="896112" y="5670000"/>
            <a:ext cx="105156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MDEC Malaysia Digital Catalyst Grant — up to RM1M — LATER: </a:t>
            </a:r>
            <a:r>
              <a:rPr lang="en-US" sz="12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Needs RM500,000 paid-up capital and 1 year of operating history — a growth-stage target, not pre-seed.</a:t>
            </a:r>
            <a:endParaRPr lang="en-US" sz="1200" dirty="0"/>
          </a:p>
        </p:txBody>
      </p:sp>
      <p:sp>
        <p:nvSpPr>
          <p:cNvPr id="41" name="Page"/>
          <p:cNvSpPr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2" name="Brand"/>
          <p:cNvSpPr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9A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SANDCHEMY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2026-07-19T00:33:57Z</dcterms:created>
  <dcterms:modified xsi:type="dcterms:W3CDTF">2026-07-19T00:33:57Z</dcterms:modified>
</cp:coreProperties>
</file>