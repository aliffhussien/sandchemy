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46720" y="-2011680"/>
            <a:ext cx="7315200" cy="7315200"/>
          </a:xfrm>
          <a:prstGeom prst="ellipse">
            <a:avLst/>
          </a:prstGeom>
          <a:solidFill>
            <a:srgbClr val="FFD76B">
              <a:alpha val="8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691640"/>
            <a:ext cx="1097280" cy="10972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377440" y="1554480"/>
            <a:ext cx="8686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Sandchemy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2423160" y="2514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7E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you can pour. Chemistry you can discover.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2423160" y="3063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free, offline-first falling-sand physics lab where every reaction is real,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sourced science — built to turn any browser into a science classroom.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2423160" y="4114800"/>
            <a:ext cx="4206240" cy="502920"/>
          </a:xfrm>
          <a:prstGeom prst="roundRect">
            <a:avLst>
              <a:gd name="adj" fmla="val 50909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423160" y="41148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Cradle Fund CIP Spark — Pre-Seed Pitch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2423160" y="6126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2026  ·  sandchemy.app  ·  cookingwithcattitude@gmail.com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science is expensive, dangerous, or fake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64240" cy="1298448"/>
          </a:xfrm>
          <a:prstGeom prst="roundRect">
            <a:avLst>
              <a:gd name="adj" fmla="val 8451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212848"/>
            <a:ext cx="731520" cy="731520"/>
          </a:xfrm>
          <a:prstGeom prst="ellipse">
            <a:avLst/>
          </a:prstGeom>
          <a:solidFill>
            <a:srgbClr val="14172A"/>
          </a:solidFill>
          <a:ln w="12700">
            <a:solidFill>
              <a:srgbClr val="2C325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315261"/>
            <a:ext cx="526694" cy="52669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066544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labs don't scale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487168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Glassware, chemicals, and heat sources cost money and carry real risk — schools ration lab time to a few sessions a year.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48640" y="3401568"/>
            <a:ext cx="11064240" cy="1298448"/>
          </a:xfrm>
          <a:prstGeom prst="roundRect">
            <a:avLst>
              <a:gd name="adj" fmla="val 8451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68680" y="3694176"/>
            <a:ext cx="731520" cy="731520"/>
          </a:xfrm>
          <a:prstGeom prst="ellipse">
            <a:avLst/>
          </a:prstGeom>
          <a:solidFill>
            <a:srgbClr val="14172A"/>
          </a:solidFill>
          <a:ln w="12700">
            <a:solidFill>
              <a:srgbClr val="2C325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093" y="3796589"/>
            <a:ext cx="526694" cy="52669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47872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“Elemental” games fake it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68496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Popular sandbox/crafting games script their combinations for effect. Nothing is actually simulated — there's no real chemistry to learn.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48640" y="4882896"/>
            <a:ext cx="11064240" cy="1298448"/>
          </a:xfrm>
          <a:prstGeom prst="roundRect">
            <a:avLst>
              <a:gd name="adj" fmla="val 8451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8680" y="5175504"/>
            <a:ext cx="731520" cy="731520"/>
          </a:xfrm>
          <a:prstGeom prst="ellipse">
            <a:avLst/>
          </a:prstGeom>
          <a:solidFill>
            <a:srgbClr val="14172A"/>
          </a:solidFill>
          <a:ln w="12700">
            <a:solidFill>
              <a:srgbClr val="2C3252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093" y="5277917"/>
            <a:ext cx="526694" cy="52669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5029200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tools forget everything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449824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Infinite-craft-style games wipe your board on refresh. Curiosity has nothing to hold onto — no record of what you actually found.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SANDCHEMY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Physics IS the crafting system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640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Sandchemy simulates real heat, density, and chemistry cell-by-cell. Pour water on lava and you don't just get a scripted splash — you discover Obsidian, because that's genuinely what happens when lava quenches fast. Every discovery is logged forever in your own Discovery Journal.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76B"/>
                </a:solidFill>
              </a:rPr>
              <a:t>✓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96112" y="3246120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 real elements across 8 categories — Basics, Metals, Gases, Chemistry, Electric, Weather, Life, Crafting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3867912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76B"/>
                </a:solidFill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3867912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temperature and density is a sourced, real-world number — not invented for effect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48640" y="4489704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76B"/>
                </a:solidFill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96112" y="4489704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server, zero account, zero data collection — everything saves locally in the browser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48640" y="5111496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76B"/>
                </a:solidFill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96112" y="5111496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Installable as a real offline app (PWA) — works on the oldest laptop in the school lab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315200" y="1554480"/>
            <a:ext cx="4343400" cy="4480560"/>
          </a:xfrm>
          <a:prstGeom prst="roundRect">
            <a:avLst>
              <a:gd name="adj" fmla="val 2526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589520" y="1737360"/>
            <a:ext cx="1554480" cy="384048"/>
          </a:xfrm>
          <a:prstGeom prst="roundRect">
            <a:avLst>
              <a:gd name="adj" fmla="val 19048"/>
            </a:avLst>
          </a:prstGeom>
          <a:solidFill>
            <a:srgbClr val="14172A"/>
          </a:solidFill>
          <a:ln w="12700">
            <a:solidFill>
              <a:srgbClr val="FFD76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589520" y="173736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Chemistry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589520" y="2286000"/>
            <a:ext cx="822960" cy="384048"/>
          </a:xfrm>
          <a:prstGeom prst="roundRect">
            <a:avLst>
              <a:gd name="adj" fmla="val 19048"/>
            </a:avLst>
          </a:prstGeom>
          <a:solidFill>
            <a:srgbClr val="14172A"/>
          </a:solidFill>
          <a:ln w="9525">
            <a:solidFill>
              <a:srgbClr val="2C325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22208" y="2286000"/>
            <a:ext cx="822960" cy="384048"/>
          </a:xfrm>
          <a:prstGeom prst="roundRect">
            <a:avLst>
              <a:gd name="adj" fmla="val 19048"/>
            </a:avLst>
          </a:prstGeom>
          <a:solidFill>
            <a:srgbClr val="14172A"/>
          </a:solidFill>
          <a:ln w="9525">
            <a:solidFill>
              <a:srgbClr val="2C325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454896" y="2286000"/>
            <a:ext cx="822960" cy="384048"/>
          </a:xfrm>
          <a:prstGeom prst="roundRect">
            <a:avLst>
              <a:gd name="adj" fmla="val 19048"/>
            </a:avLst>
          </a:prstGeom>
          <a:solidFill>
            <a:srgbClr val="14172A"/>
          </a:solidFill>
          <a:ln w="9525">
            <a:solidFill>
              <a:srgbClr val="2C325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387584" y="2286000"/>
            <a:ext cx="822960" cy="384048"/>
          </a:xfrm>
          <a:prstGeom prst="roundRect">
            <a:avLst>
              <a:gd name="adj" fmla="val 19048"/>
            </a:avLst>
          </a:prstGeom>
          <a:solidFill>
            <a:srgbClr val="14172A"/>
          </a:solidFill>
          <a:ln w="9525">
            <a:solidFill>
              <a:srgbClr val="2C325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89520" y="2880360"/>
            <a:ext cx="3794760" cy="2971800"/>
          </a:xfrm>
          <a:prstGeom prst="roundRect">
            <a:avLst>
              <a:gd name="adj" fmla="val 3692"/>
            </a:avLst>
          </a:prstGeom>
          <a:solidFill>
            <a:srgbClr val="1A1200"/>
          </a:solidFill>
          <a:ln w="12700">
            <a:solidFill>
              <a:srgbClr val="2C3252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3566160"/>
            <a:ext cx="1600200" cy="1600200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7589520" y="589788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in-browser sandbox — category tabs, real-time canvas, Discovery Journal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SANDCHEMY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real lab, not a toy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584448" cy="1965960"/>
          </a:xfrm>
          <a:prstGeom prst="roundRect">
            <a:avLst>
              <a:gd name="adj" fmla="val 5581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084832"/>
            <a:ext cx="566928" cy="566928"/>
          </a:xfrm>
          <a:prstGeom prst="ellipse">
            <a:avLst/>
          </a:prstGeom>
          <a:solidFill>
            <a:srgbClr val="14172A"/>
          </a:solidFill>
          <a:ln w="12700">
            <a:solidFill>
              <a:srgbClr val="2C325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4042" y="2164202"/>
            <a:ext cx="408188" cy="4081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4672" y="2743200"/>
            <a:ext cx="3072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thermodynamics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30723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radiates, diffuses, and decays per-cell. Lava melts ice from a distance; a wall genuinely blocks heat.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389120" y="1828800"/>
            <a:ext cx="3584448" cy="1965960"/>
          </a:xfrm>
          <a:prstGeom prst="roundRect">
            <a:avLst>
              <a:gd name="adj" fmla="val 5581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645152" y="2084832"/>
            <a:ext cx="566928" cy="566928"/>
          </a:xfrm>
          <a:prstGeom prst="ellipse">
            <a:avLst/>
          </a:prstGeom>
          <a:solidFill>
            <a:srgbClr val="14172A"/>
          </a:solidFill>
          <a:ln w="12700">
            <a:solidFill>
              <a:srgbClr val="2C325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4522" y="2164202"/>
            <a:ext cx="408188" cy="40818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645152" y="2743200"/>
            <a:ext cx="3072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Probe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4645152" y="3108960"/>
            <a:ext cx="30723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Hover any cell for a live temperature/state readout — a real lab thermometer, built into the canvas.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8229600" y="1828800"/>
            <a:ext cx="3584448" cy="1965960"/>
          </a:xfrm>
          <a:prstGeom prst="roundRect">
            <a:avLst>
              <a:gd name="adj" fmla="val 5581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85632" y="2084832"/>
            <a:ext cx="566928" cy="566928"/>
          </a:xfrm>
          <a:prstGeom prst="ellipse">
            <a:avLst/>
          </a:prstGeom>
          <a:solidFill>
            <a:srgbClr val="14172A"/>
          </a:solidFill>
          <a:ln w="12700">
            <a:solidFill>
              <a:srgbClr val="2C3252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5002" y="2164202"/>
            <a:ext cx="408188" cy="40818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85632" y="2743200"/>
            <a:ext cx="3072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 Lab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8485632" y="3108960"/>
            <a:ext cx="30723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 custom element — emoji, color, physics, up to 3 reactions — zero code, export as a shareable text code.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548640" y="4050792"/>
            <a:ext cx="3584448" cy="1965960"/>
          </a:xfrm>
          <a:prstGeom prst="roundRect">
            <a:avLst>
              <a:gd name="adj" fmla="val 5581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804672" y="4306824"/>
            <a:ext cx="566928" cy="566928"/>
          </a:xfrm>
          <a:prstGeom prst="ellipse">
            <a:avLst/>
          </a:prstGeom>
          <a:solidFill>
            <a:srgbClr val="14172A"/>
          </a:solidFill>
          <a:ln w="12700">
            <a:solidFill>
              <a:srgbClr val="2C3252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4042" y="4386194"/>
            <a:ext cx="408188" cy="40818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804672" y="4965192"/>
            <a:ext cx="3072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Prebuilt Scenarios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804672" y="5330952"/>
            <a:ext cx="30723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ready-made setups like Volcano Eruption to start a guided experiment instantly.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4389120" y="4050792"/>
            <a:ext cx="3584448" cy="1965960"/>
          </a:xfrm>
          <a:prstGeom prst="roundRect">
            <a:avLst>
              <a:gd name="adj" fmla="val 5581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645152" y="4306824"/>
            <a:ext cx="566928" cy="566928"/>
          </a:xfrm>
          <a:prstGeom prst="ellipse">
            <a:avLst/>
          </a:prstGeom>
          <a:solidFill>
            <a:srgbClr val="14172A"/>
          </a:solidFill>
          <a:ln w="12700">
            <a:solidFill>
              <a:srgbClr val="2C3252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4522" y="4386194"/>
            <a:ext cx="408188" cy="408188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645152" y="4965192"/>
            <a:ext cx="3072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Journal</a:t>
            </a:r>
            <a:endParaRPr lang="en-US" sz="1400" dirty="0"/>
          </a:p>
        </p:txBody>
      </p:sp>
      <p:sp>
        <p:nvSpPr>
          <p:cNvPr id="28" name="Text 21"/>
          <p:cNvSpPr/>
          <p:nvPr/>
        </p:nvSpPr>
        <p:spPr>
          <a:xfrm>
            <a:off x="4645152" y="5330952"/>
            <a:ext cx="30723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new combination is auto-logged forever — doubles as a ready-made lab notebook for assessment.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8229600" y="4050792"/>
            <a:ext cx="3584448" cy="1965960"/>
          </a:xfrm>
          <a:prstGeom prst="roundRect">
            <a:avLst>
              <a:gd name="adj" fmla="val 5581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8485632" y="4306824"/>
            <a:ext cx="566928" cy="566928"/>
          </a:xfrm>
          <a:prstGeom prst="ellipse">
            <a:avLst/>
          </a:prstGeom>
          <a:solidFill>
            <a:srgbClr val="14172A"/>
          </a:solidFill>
          <a:ln w="12700">
            <a:solidFill>
              <a:srgbClr val="2C3252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65002" y="4386194"/>
            <a:ext cx="408188" cy="408188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485632" y="4965192"/>
            <a:ext cx="3072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Nuclear physics, done safely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8485632" y="5330952"/>
            <a:ext cx="30723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Uranium decays into Radiation; Lead genuinely shields against it — no real-world hazard, all real logic.</a:t>
            </a:r>
            <a:endParaRPr lang="en-US" sz="1050" dirty="0"/>
          </a:p>
        </p:txBody>
      </p:sp>
      <p:sp>
        <p:nvSpPr>
          <p:cNvPr id="34" name="Text 26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35" name="Text 27"/>
          <p:cNvSpPr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SANDCHEMY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ROADMAP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Introducing Pluto — an AI science orchestrator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2880360" cy="365760"/>
          </a:xfrm>
          <a:prstGeom prst="roundRect">
            <a:avLst>
              <a:gd name="adj" fmla="val 50000"/>
            </a:avLst>
          </a:prstGeom>
          <a:solidFill>
            <a:srgbClr val="241B00"/>
          </a:solidFill>
          <a:ln w="12700">
            <a:solidFill>
              <a:srgbClr val="FFD7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481328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— NOT YET BUILT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96596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for the demoted planet. Pluto is an AI layer on top of Sandchemy's own already-sourced science — not an open-web crawl — that adjusts explanation depth for students, teachers, and professors, and shows its sources rather than asserting blanket truth.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880360"/>
            <a:ext cx="3611880" cy="2880360"/>
          </a:xfrm>
          <a:prstGeom prst="roundRect">
            <a:avLst>
              <a:gd name="adj" fmla="val 3810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3154680"/>
            <a:ext cx="640080" cy="640080"/>
          </a:xfrm>
          <a:prstGeom prst="ellipse">
            <a:avLst/>
          </a:prstGeom>
          <a:solidFill>
            <a:srgbClr val="14172A"/>
          </a:solidFill>
          <a:ln w="12700">
            <a:solidFill>
              <a:srgbClr val="2C3252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2571" y="3244291"/>
            <a:ext cx="460858" cy="46085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22960" y="388620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9a — Ask Pluto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22960" y="4315968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In-app tutor beside the Discovery Journal. Explains a real reaction at the depth you pick — curious explainer, real chemistry, or a teaching point.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22960" y="5349240"/>
            <a:ext cx="3063240" cy="384048"/>
          </a:xfrm>
          <a:prstGeom prst="roundRect">
            <a:avLst>
              <a:gd name="adj" fmla="val 19048"/>
            </a:avLst>
          </a:prstGeom>
          <a:solidFill>
            <a:srgbClr val="14172A"/>
          </a:solidFill>
          <a:ln w="12700">
            <a:solidFill>
              <a:srgbClr val="7EE3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68680" y="534924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E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first build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4343400" y="2880360"/>
            <a:ext cx="3611880" cy="2880360"/>
          </a:xfrm>
          <a:prstGeom prst="roundRect">
            <a:avLst>
              <a:gd name="adj" fmla="val 3810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617720" y="3154680"/>
            <a:ext cx="640080" cy="640080"/>
          </a:xfrm>
          <a:prstGeom prst="ellipse">
            <a:avLst/>
          </a:prstGeom>
          <a:solidFill>
            <a:srgbClr val="14172A"/>
          </a:solidFill>
          <a:ln w="12700">
            <a:solidFill>
              <a:srgbClr val="2C3252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7331" y="3244291"/>
            <a:ext cx="460858" cy="460858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4617720" y="388620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9b — Authoring Copilot</a:t>
            </a:r>
            <a:endParaRPr lang="en-US" sz="1500" dirty="0"/>
          </a:p>
        </p:txBody>
      </p:sp>
      <p:sp>
        <p:nvSpPr>
          <p:cNvPr id="18" name="Text 14"/>
          <p:cNvSpPr/>
          <p:nvPr/>
        </p:nvSpPr>
        <p:spPr>
          <a:xfrm>
            <a:off x="4617720" y="4315968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Drafts a new element's real data and citations for founder verification before it ships — speeds up the existing weekly content pipeline.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4617720" y="5349240"/>
            <a:ext cx="3063240" cy="384048"/>
          </a:xfrm>
          <a:prstGeom prst="roundRect">
            <a:avLst>
              <a:gd name="adj" fmla="val 19048"/>
            </a:avLst>
          </a:prstGeom>
          <a:solidFill>
            <a:srgbClr val="14172A"/>
          </a:solidFill>
          <a:ln w="12700">
            <a:solidFill>
              <a:srgbClr val="7EE3F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4663440" y="534924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E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tool, dev-only</a:t>
            </a:r>
            <a:endParaRPr lang="en-US" sz="900" dirty="0"/>
          </a:p>
        </p:txBody>
      </p:sp>
      <p:sp>
        <p:nvSpPr>
          <p:cNvPr id="21" name="Shape 17"/>
          <p:cNvSpPr/>
          <p:nvPr/>
        </p:nvSpPr>
        <p:spPr>
          <a:xfrm>
            <a:off x="8138160" y="2880360"/>
            <a:ext cx="3611880" cy="2880360"/>
          </a:xfrm>
          <a:prstGeom prst="roundRect">
            <a:avLst>
              <a:gd name="adj" fmla="val 3810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8412480" y="3154680"/>
            <a:ext cx="640080" cy="640080"/>
          </a:xfrm>
          <a:prstGeom prst="ellipse">
            <a:avLst/>
          </a:prstGeom>
          <a:solidFill>
            <a:srgbClr val="14172A"/>
          </a:solidFill>
          <a:ln w="12700">
            <a:solidFill>
              <a:srgbClr val="2C3252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2091" y="3244291"/>
            <a:ext cx="460858" cy="460858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8412480" y="388620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9c — Teacher Generator</a:t>
            </a:r>
            <a:endParaRPr lang="en-US" sz="1500" dirty="0"/>
          </a:p>
        </p:txBody>
      </p:sp>
      <p:sp>
        <p:nvSpPr>
          <p:cNvPr id="25" name="Text 20"/>
          <p:cNvSpPr/>
          <p:nvPr/>
        </p:nvSpPr>
        <p:spPr>
          <a:xfrm>
            <a:off x="8412480" y="4315968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Drafts lesson plans and quiz questions grounded in mechanics that actually exist in the sandbox, for the teacher/professor audience.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8412480" y="5349240"/>
            <a:ext cx="3063240" cy="384048"/>
          </a:xfrm>
          <a:prstGeom prst="roundRect">
            <a:avLst>
              <a:gd name="adj" fmla="val 19048"/>
            </a:avLst>
          </a:prstGeom>
          <a:solidFill>
            <a:srgbClr val="14172A"/>
          </a:solidFill>
          <a:ln w="12700">
            <a:solidFill>
              <a:srgbClr val="7EE3FF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8458200" y="534924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E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Depends on 9a shipping first</a:t>
            </a:r>
            <a:endParaRPr lang="en-US" sz="900" dirty="0"/>
          </a:p>
        </p:txBody>
      </p:sp>
      <p:sp>
        <p:nvSpPr>
          <p:cNvPr id="28" name="Text 23"/>
          <p:cNvSpPr/>
          <p:nvPr/>
        </p:nvSpPr>
        <p:spPr>
          <a:xfrm>
            <a:off x="548640" y="598932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i="1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Pluto ships: a clear, opt-in disclosure model. Sandchemy's zero-data-collection promise stays true for the core sandbox — Pluto is an explicit, disclosed exception whenever it's used.</a:t>
            </a:r>
            <a:endParaRPr lang="en-US" sz="1050" dirty="0"/>
          </a:p>
        </p:txBody>
      </p:sp>
      <p:sp>
        <p:nvSpPr>
          <p:cNvPr id="29" name="Text 24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30" name="Text 25"/>
          <p:cNvSpPr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SANDCHEMY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Riding Malaysia's EdTech growth curve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196596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D7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USD 1.05B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731520" y="265176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Malaysia EdTech market size, 2024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297680" y="182880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297680" y="196596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D7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USD 2.88B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4480560" y="265176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size by 2033 (~11.8% CAGR)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046720" y="182880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046720" y="196596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D7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44.6%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8229600" y="265176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held by higher education alone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33375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IMARC Group, Malaysia EdTech Market Report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48640" y="3886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Sandchemy fits this moment: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48640" y="434340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EE3FF"/>
                </a:solidFill>
              </a:rPr>
              <a:t>→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96112" y="434340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STEM push + rising gamified/digital-classroom adoption are both named growth drivers of this market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48640" y="4910328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EE3FF"/>
                </a:solidFill>
              </a:rPr>
              <a:t>→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96112" y="491032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hardware cost and zero install fits Malaysia's mixed device access in schools — runs on any browser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48640" y="5477256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EE3FF"/>
                </a:solidFill>
              </a:rPr>
              <a:t>→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96112" y="5477256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“sandbox/creative-play” game audience (Sandspiel, Noita-likes) is a second, non-EdTech distribution channel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SANDCHEMY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credible paths to revenue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sandbox stays free, always. Grant funds go toward proving which of these converts best.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3611880" cy="3794760"/>
          </a:xfrm>
          <a:prstGeom prst="roundRect">
            <a:avLst>
              <a:gd name="adj" fmla="val 3038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240280"/>
            <a:ext cx="640080" cy="640080"/>
          </a:xfrm>
          <a:prstGeom prst="ellipse">
            <a:avLst/>
          </a:prstGeom>
          <a:solidFill>
            <a:srgbClr val="14172A"/>
          </a:solidFill>
          <a:ln w="12700">
            <a:solidFill>
              <a:srgbClr val="2C3252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2571" y="2329891"/>
            <a:ext cx="460858" cy="46085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297180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EdTech Licensing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22960" y="3429000"/>
            <a:ext cx="3063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 site licenses to schools/colleges: curriculum-aligned worksheet packs, LMS-friendly embeds, teacher dashboards for the Discovery Journal.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22960" y="5074920"/>
            <a:ext cx="3063240" cy="548640"/>
          </a:xfrm>
          <a:prstGeom prst="roundRect">
            <a:avLst>
              <a:gd name="adj" fmla="val 13333"/>
            </a:avLst>
          </a:prstGeom>
          <a:solidFill>
            <a:srgbClr val="241B00"/>
          </a:solidFill>
          <a:ln w="12700">
            <a:solidFill>
              <a:srgbClr val="FFD76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14400" y="507492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lead path — matches CIP Spark's commercialisation bar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4343400" y="1965960"/>
            <a:ext cx="3611880" cy="3794760"/>
          </a:xfrm>
          <a:prstGeom prst="roundRect">
            <a:avLst>
              <a:gd name="adj" fmla="val 3038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617720" y="2240280"/>
            <a:ext cx="640080" cy="640080"/>
          </a:xfrm>
          <a:prstGeom prst="ellipse">
            <a:avLst/>
          </a:prstGeom>
          <a:solidFill>
            <a:srgbClr val="14172A"/>
          </a:solidFill>
          <a:ln w="12700">
            <a:solidFill>
              <a:srgbClr val="2C3252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7331" y="2329891"/>
            <a:ext cx="460858" cy="46085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617720" y="297180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Freemium Consumer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4617720" y="3429000"/>
            <a:ext cx="3063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sandbox stays as-is; paid cosmetic packs, extra save slots, and “pro” tools (more Element Lab slots, no watermark on exports).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4617720" y="5074920"/>
            <a:ext cx="3063240" cy="548640"/>
          </a:xfrm>
          <a:prstGeom prst="roundRect">
            <a:avLst>
              <a:gd name="adj" fmla="val 13333"/>
            </a:avLst>
          </a:prstGeom>
          <a:solidFill>
            <a:srgbClr val="241B00"/>
          </a:solidFill>
          <a:ln w="12700">
            <a:solidFill>
              <a:srgbClr val="FFD76B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4709160" y="507492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 to test — no sales cycle, works with the existing PWA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8138160" y="1965960"/>
            <a:ext cx="3611880" cy="3794760"/>
          </a:xfrm>
          <a:prstGeom prst="roundRect">
            <a:avLst>
              <a:gd name="adj" fmla="val 3038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8412480" y="2240280"/>
            <a:ext cx="640080" cy="640080"/>
          </a:xfrm>
          <a:prstGeom prst="ellipse">
            <a:avLst/>
          </a:prstGeom>
          <a:solidFill>
            <a:srgbClr val="14172A"/>
          </a:solidFill>
          <a:ln w="12700">
            <a:solidFill>
              <a:srgbClr val="2C3252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2091" y="2329891"/>
            <a:ext cx="460858" cy="460858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412480" y="297180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/ B2B2C</a:t>
            </a:r>
            <a:endParaRPr lang="en-US" sz="1600" dirty="0"/>
          </a:p>
        </p:txBody>
      </p:sp>
      <p:sp>
        <p:nvSpPr>
          <p:cNvPr id="23" name="Text 18"/>
          <p:cNvSpPr/>
          <p:nvPr/>
        </p:nvSpPr>
        <p:spPr>
          <a:xfrm>
            <a:off x="8412480" y="3429000"/>
            <a:ext cx="3063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for individual learners; paid tier for institutions bundling both licensing AND premium consumer features under one subscription.</a:t>
            </a:r>
            <a:endParaRPr lang="en-US" sz="1150" dirty="0"/>
          </a:p>
        </p:txBody>
      </p:sp>
      <p:sp>
        <p:nvSpPr>
          <p:cNvPr id="24" name="Shape 19"/>
          <p:cNvSpPr/>
          <p:nvPr/>
        </p:nvSpPr>
        <p:spPr>
          <a:xfrm>
            <a:off x="8412480" y="5074920"/>
            <a:ext cx="3063240" cy="548640"/>
          </a:xfrm>
          <a:prstGeom prst="roundRect">
            <a:avLst>
              <a:gd name="adj" fmla="val 13333"/>
            </a:avLst>
          </a:prstGeom>
          <a:solidFill>
            <a:srgbClr val="241B00"/>
          </a:solidFill>
          <a:ln w="12700">
            <a:solidFill>
              <a:srgbClr val="FFD76B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8503920" y="507492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long-run outcome if both markets validate</a:t>
            </a:r>
            <a:endParaRPr lang="en-US" sz="950" dirty="0"/>
          </a:p>
        </p:txBody>
      </p:sp>
      <p:sp>
        <p:nvSpPr>
          <p:cNvPr id="26" name="Text 21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SANDCHEMY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TRACTION &amp; ROADMAP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Already built. Now, growing it.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 TODAY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20574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76B"/>
                </a:solidFill>
              </a:rPr>
              <a:t>✓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 elements, 8 categories, all sourced real-world physics/chemistry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48640" y="2587752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76B"/>
                </a:solidFill>
              </a:rPr>
              <a:t>✓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68680" y="2587752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 Lab (build-your-own element/reactions) + export/import codes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48640" y="3118104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76B"/>
                </a:solidFill>
              </a:rPr>
              <a:t>✓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68680" y="3118104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Probe, prebuilt Scenarios, Discovery Journal, full keyboard control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48640" y="36484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76B"/>
                </a:solidFill>
              </a:rPr>
              <a:t>✓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68680" y="3648456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Installable offline PWA with onboarding tutorial and mobile-responsive UI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83680" y="16459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E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12 MONTHS (grant-funded)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583680" y="2075688"/>
            <a:ext cx="201168" cy="201168"/>
          </a:xfrm>
          <a:prstGeom prst="ellipse">
            <a:avLst/>
          </a:prstGeom>
          <a:solidFill>
            <a:srgbClr val="7EE3F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84264" y="2276856"/>
            <a:ext cx="0" cy="566928"/>
          </a:xfrm>
          <a:prstGeom prst="line">
            <a:avLst/>
          </a:prstGeom>
          <a:noFill/>
          <a:ln w="19050">
            <a:solidFill>
              <a:srgbClr val="2C32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03720" y="198424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2026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229600" y="19659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Pluto (AI tutor) MVP ships; first 3 school pilots begin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583680" y="2880360"/>
            <a:ext cx="201168" cy="201168"/>
          </a:xfrm>
          <a:prstGeom prst="ellipse">
            <a:avLst/>
          </a:prstGeom>
          <a:solidFill>
            <a:srgbClr val="7EE3FF"/>
          </a:solidFill>
          <a:ln/>
        </p:spPr>
      </p:sp>
      <p:sp>
        <p:nvSpPr>
          <p:cNvPr id="19" name="Shape 17"/>
          <p:cNvSpPr/>
          <p:nvPr/>
        </p:nvSpPr>
        <p:spPr>
          <a:xfrm>
            <a:off x="6684264" y="3081528"/>
            <a:ext cx="0" cy="566928"/>
          </a:xfrm>
          <a:prstGeom prst="line">
            <a:avLst/>
          </a:prstGeom>
          <a:noFill/>
          <a:ln w="19050">
            <a:solidFill>
              <a:srgbClr val="2C325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903720" y="278892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2026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229600" y="2770632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dashboard + curriculum worksheet packs (zero student PII)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583680" y="3685032"/>
            <a:ext cx="201168" cy="201168"/>
          </a:xfrm>
          <a:prstGeom prst="ellipse">
            <a:avLst/>
          </a:prstGeom>
          <a:solidFill>
            <a:srgbClr val="7EE3FF"/>
          </a:solidFill>
          <a:ln/>
        </p:spPr>
      </p:sp>
      <p:sp>
        <p:nvSpPr>
          <p:cNvPr id="23" name="Shape 21"/>
          <p:cNvSpPr/>
          <p:nvPr/>
        </p:nvSpPr>
        <p:spPr>
          <a:xfrm>
            <a:off x="6684264" y="3886200"/>
            <a:ext cx="0" cy="566928"/>
          </a:xfrm>
          <a:prstGeom prst="line">
            <a:avLst/>
          </a:prstGeom>
          <a:noFill/>
          <a:ln w="19050">
            <a:solidFill>
              <a:srgbClr val="2C325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903720" y="359359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2027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229600" y="3575304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mobile app wrapper; LMS embed support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583680" y="4489704"/>
            <a:ext cx="201168" cy="201168"/>
          </a:xfrm>
          <a:prstGeom prst="ellipse">
            <a:avLst/>
          </a:prstGeom>
          <a:solidFill>
            <a:srgbClr val="7EE3FF"/>
          </a:solidFill>
          <a:ln/>
        </p:spPr>
      </p:sp>
      <p:sp>
        <p:nvSpPr>
          <p:cNvPr id="27" name="Text 25"/>
          <p:cNvSpPr/>
          <p:nvPr/>
        </p:nvSpPr>
        <p:spPr>
          <a:xfrm>
            <a:off x="6903720" y="439826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2027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229600" y="4379976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launch of chosen monetization path, first paid customers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SANDCHEMY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Founder-built, team in progress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840480" cy="3931920"/>
          </a:xfrm>
          <a:prstGeom prst="roundRect">
            <a:avLst>
              <a:gd name="adj" fmla="val 2857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94560"/>
            <a:ext cx="1005840" cy="1005840"/>
          </a:xfrm>
          <a:prstGeom prst="ellipse">
            <a:avLst/>
          </a:prstGeom>
          <a:solidFill>
            <a:srgbClr val="14172A"/>
          </a:solidFill>
          <a:ln w="12700">
            <a:solidFill>
              <a:srgbClr val="2C325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335378"/>
            <a:ext cx="724205" cy="72420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3375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Aliff Hussien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14400" y="37033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&amp; Builder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914400" y="411480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and built Sandchemy's entire engine, content system, and UI end-to-end — 8+ shipped phases from first prototype to an installable, sourced-physics sandbox.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663440" y="1828800"/>
            <a:ext cx="3840480" cy="3931920"/>
          </a:xfrm>
          <a:prstGeom prst="roundRect">
            <a:avLst>
              <a:gd name="adj" fmla="val 2857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029200" y="2194560"/>
            <a:ext cx="1005840" cy="1005840"/>
          </a:xfrm>
          <a:prstGeom prst="ellipse">
            <a:avLst/>
          </a:prstGeom>
          <a:solidFill>
            <a:srgbClr val="14172A"/>
          </a:solidFill>
          <a:ln w="19050">
            <a:solidFill>
              <a:srgbClr val="2C3252"/>
            </a:solidFill>
            <a:prstDash val="dash"/>
          </a:ln>
        </p:spPr>
      </p:sp>
      <p:sp>
        <p:nvSpPr>
          <p:cNvPr id="12" name="Text 9"/>
          <p:cNvSpPr/>
          <p:nvPr/>
        </p:nvSpPr>
        <p:spPr>
          <a:xfrm>
            <a:off x="5029200" y="21945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AA2BD"/>
                </a:solidFill>
              </a:rPr>
              <a:t>?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5394960" y="33375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Co-founder — recruiting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5394960" y="37033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E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role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5394960" y="411480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CIP Spark requires a minimum 2-person team. Actively looking for a co-founder with education/business-development strength to complement the technical build — commercialisation, school partnerships, and curriculum design.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778240" y="1828800"/>
            <a:ext cx="2880360" cy="3931920"/>
          </a:xfrm>
          <a:prstGeom prst="roundRect">
            <a:avLst>
              <a:gd name="adj" fmla="val 3810"/>
            </a:avLst>
          </a:prstGeom>
          <a:solidFill>
            <a:srgbClr val="14172A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9006840" y="20574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We're also looking for: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9006840" y="251460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D76B"/>
                </a:solidFill>
              </a:rPr>
              <a:t>•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9235440" y="251460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Educators to co-design curriculum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9006840" y="3081528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D76B"/>
                </a:solidFill>
              </a:rPr>
              <a:t>•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9235440" y="3081528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Scientists to peer-review chemistry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006840" y="3648456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D76B"/>
                </a:solidFill>
              </a:rPr>
              <a:t>•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9235440" y="3648456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pilot classrooms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SANDCHEMY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RM150,000 — CIP Spark, pre-seed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pre-seed cap requested, split per CIP Spark's own 60/40 developmental-vs-commercialisation rule.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6492240" cy="960120"/>
          </a:xfrm>
          <a:prstGeom prst="roundRect">
            <a:avLst>
              <a:gd name="adj" fmla="val 11429"/>
            </a:avLst>
          </a:prstGeom>
          <a:solidFill>
            <a:srgbClr val="241B00"/>
          </a:solidFill>
          <a:ln w="12700">
            <a:solidFill>
              <a:srgbClr val="FFD76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011680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D7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60%  ·  RM90,000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3291840" y="201168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 — mobile app wrapper, teacher dashboard, curriculum content pipeline, new element/reaction batches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3108960"/>
            <a:ext cx="6492240" cy="960120"/>
          </a:xfrm>
          <a:prstGeom prst="roundRect">
            <a:avLst>
              <a:gd name="adj" fmla="val 11429"/>
            </a:avLst>
          </a:prstGeom>
          <a:solidFill>
            <a:srgbClr val="0E2A2E"/>
          </a:solidFill>
          <a:ln w="12700">
            <a:solidFill>
              <a:srgbClr val="7EE3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22960" y="3108960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EE3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40%  ·  RM60,000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291840" y="31089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Commercialisation — school pilot rollouts, teacher training materials, IP/legal setup, marketing for launch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315200" y="2011680"/>
            <a:ext cx="4343400" cy="4023360"/>
          </a:xfrm>
          <a:prstGeom prst="roundRect">
            <a:avLst>
              <a:gd name="adj" fmla="val 2727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589520" y="21945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Milestones this funds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589520" y="26517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D76B"/>
                </a:solidFill>
              </a:rPr>
              <a:t>→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909560" y="265176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signed school pilots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589520" y="331012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D76B"/>
                </a:solidFill>
              </a:rPr>
              <a:t>→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909560" y="331012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Pluto (AI tutor) MVP shipped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589520" y="396849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D76B"/>
                </a:solidFill>
              </a:rPr>
              <a:t>→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909560" y="3968496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dashboard MVP live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589520" y="4626864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D76B"/>
                </a:solidFill>
              </a:rPr>
              <a:t>→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909560" y="4626864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business model validated with real paying users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589520" y="5285232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D76B"/>
                </a:solidFill>
              </a:rPr>
              <a:t>→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909560" y="5285232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for CIP Sprint (seed) follow-on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SANDCHEMY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CIP SPARK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textbook pre-seed, MVP-stage fit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11064240" cy="1024128"/>
          </a:xfrm>
          <a:prstGeom prst="roundRect">
            <a:avLst>
              <a:gd name="adj" fmla="val 10714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2011680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D76B"/>
                </a:solidFill>
              </a:rPr>
              <a:t>✓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234440" y="196596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Tech-based, innovative idea → MVP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34440" y="2313432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Sandchemy is a working, live MVP already — real physics engine, 56 elements, installable PWA — exactly the stage CIP Spark is designed to fund.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3044952"/>
            <a:ext cx="11064240" cy="1024128"/>
          </a:xfrm>
          <a:prstGeom prst="roundRect">
            <a:avLst>
              <a:gd name="adj" fmla="val 10714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77240" y="3182112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D76B"/>
                </a:solidFill>
              </a:rPr>
              <a:t>✓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234440" y="3136392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+ IP ownership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34440" y="3483864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Founder-owned IP from day one, no university/employer entanglement; actively closing the 2-person minimum with a co-founder search already underway.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4215384"/>
            <a:ext cx="11064240" cy="1024128"/>
          </a:xfrm>
          <a:prstGeom prst="roundRect">
            <a:avLst>
              <a:gd name="adj" fmla="val 10714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77240" y="4352544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D76B"/>
                </a:solidFill>
              </a:rPr>
              <a:t>✓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234440" y="4306824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Malaysian-rooted, globally usable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34440" y="4654296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and based in Malaysia, directly targeting Malaysia's fast-growing EdTech sector, with a genuine second global distribution channel (sandbox-game players).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5385816"/>
            <a:ext cx="11064240" cy="1024128"/>
          </a:xfrm>
          <a:prstGeom prst="roundRect">
            <a:avLst>
              <a:gd name="adj" fmla="val 10714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77240" y="5522976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D76B"/>
                </a:solidFill>
              </a:rPr>
              <a:t>✓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234440" y="547725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Capital-efficient by design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34440" y="5824728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server costs, zero infra to scale — grant funds go almost entirely into product and go-to-market, not overhead.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SANDCHEMY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4114800"/>
            <a:ext cx="7315200" cy="7315200"/>
          </a:xfrm>
          <a:prstGeom prst="ellipse">
            <a:avLst/>
          </a:prstGeom>
          <a:solidFill>
            <a:srgbClr val="FFD76B">
              <a:alpha val="7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67528" y="1371600"/>
            <a:ext cx="1463040" cy="14630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2743200"/>
            <a:ext cx="9418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Turn curiosity into discovery.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1371600" y="3520440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7E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to use. No install required. Built to be the classroom lab every school can afford.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480560" y="4297680"/>
            <a:ext cx="3200400" cy="548640"/>
          </a:xfrm>
          <a:prstGeom prst="roundRect">
            <a:avLst>
              <a:gd name="adj" fmla="val 50000"/>
            </a:avLst>
          </a:prstGeom>
          <a:solidFill>
            <a:srgbClr val="FFD76B"/>
          </a:solidFill>
          <a:ln/>
        </p:spPr>
      </p:sp>
      <p:sp>
        <p:nvSpPr>
          <p:cNvPr id="7" name="Text 4"/>
          <p:cNvSpPr/>
          <p:nvPr/>
        </p:nvSpPr>
        <p:spPr>
          <a:xfrm>
            <a:off x="4480560" y="42976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— sandchemy.app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371600" y="52120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Aliff Hussien  ·  cookingwithcattitude@gmail.com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371600" y="5760720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AA2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2026-07-19T00:33:57Z</dcterms:created>
  <dcterms:modified xsi:type="dcterms:W3CDTF">2026-07-19T00:33:57Z</dcterms:modified>
</cp:coreProperties>
</file>